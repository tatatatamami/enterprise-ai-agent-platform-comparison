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645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457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3A5F"/>
                </a:solidFill>
              </a:rPr>
              <a:t>詳細比較マトリクス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231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AWS AgentCore  vs  Microsoft Azure AI Foundry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154680"/>
            <a:ext cx="853135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246120"/>
            <a:ext cx="9052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55555"/>
                </a:solidFill>
              </a:rPr>
              <a:t>対象読者：IT アーキテクト、AI 推進担当者、プリセールスエンジニア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11880"/>
            <a:ext cx="9052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55555"/>
                </a:solidFill>
              </a:rPr>
              <a:t>目的：エンタープライズ AI エージェント基盤選定における客観的な評価指標の提供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4206240"/>
            <a:ext cx="34747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224528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Amazon Bedrock AgentCore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9752" y="4206240"/>
            <a:ext cx="347472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4224528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AAAAA"/>
                </a:solidFill>
              </a:rPr>
              <a:t>エンタープライズ AI エージェント基盤 比較資料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E3A5F"/>
                </a:solidFill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プラットフォーム概要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914400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914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9601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AI モデルとランタイム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44752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9047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エンタープライズ統合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44752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4475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9047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セキュリティとコンプライアンス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75104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7510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02082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開発者エクスペリエンス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975104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7510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2082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運用・MLOps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05456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50545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551175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メモリと状態管理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505456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50545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551175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価格モデル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35808"/>
            <a:ext cx="36576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0358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81527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サポートとエコシステム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035808"/>
            <a:ext cx="365760" cy="36576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0358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081527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総合評価サマリー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プラットフォーム概要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正式名称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Bedrock AgentCore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Azure AI Foundry（旧 Azure AI Studio）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提供形態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マネージドサービス（Amazon Bedrock の一部）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統合プラットフォーム（Azure AI サービス群）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主要ユースケース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クラウドネイティブな AI エージェント構築・実行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エンタープライズ統合型 AI エージェント構築・運用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リリース状況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GA（一般提供中）※機能により異なる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GA（一般提供中）※機能により異なる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対応リージョン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主要 AWS リージョン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グローバル Azure リージョン（日本リージョン含む）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AI モデルとランタイム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対応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Titan、Claude（Anthropic）、Llama、Mistral 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OpenAI（GPT-4o、o1 等）、Llama、Mistral、Phi 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独自モデル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Titan（テキスト・埋め込み）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Phi シリーズ（SLM）、Azure OpenAI 専用モデル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マルチモデル対応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○（Bedrock 上の複数モデルを切替可能）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○（モデルカタログから選択・デプロイ）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ファインチューニング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○（一部モデルに対応）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○（Azure OpenAI ファインチューニング対応）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エージェントランタイム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Bedrock AgentCore Runtime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Foundry エージェントサービス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08960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14553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マルチエージェント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○（エージェント間オーケストレーション）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5411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○（AutoGen、Semantic Kernel との統合）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エンタープライズ統合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ID・アクセス管理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IAM / AWS Organizations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Entra ID（条件付きアクセス、MFA、RBAC）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シングルサインオン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SSO（IAM Identity Center）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Entra ID SSO（既存 AD・ADFS との完全統合）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監視・オブザーバビリティ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CloudWatch、AWS X-Ray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Monitor（メトリクス・ログ・アプリケーションインサイト）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ログ管理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CloudWatch Logs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Monitor ログ / Log Analytics ワークスペース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エンタープライズ検索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Kendra / OpenSearch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Search（RAG パイプライン、ベクター検索、ハイブリッド検索）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08960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14553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データ分析基盤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Glue / Amazon Athena / Amazon Redshift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5411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Fabric（OneLake、データ統合・分析の統合基盤）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456432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4930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ワークフロー自動化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Step Functions / Amazon EventBridge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Logic Apps（GUI ベースのビジネスプロセス自動化、数百のコネクタ）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803904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384048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データストア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803904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13632" y="38404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S3、DynamoDB、RDS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3803904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54112" y="38404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Blob Storage、Cosmos DB、Azure SQL、Azure Data Lake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3. エンタープライズ統合 ― 評価サマリー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725912" cy="228600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5F"/>
                </a:solidFill>
              </a:rPr>
              <a:t>Microsoft Foundry はエンタープライズ向け Microsoft 製品群（Microsoft 365、Power Platform、Dynamics 365）との密接な連携を前提に設計されており、既存の Active Directory/Entra ID 環境を持つ組織においては統合コストを大幅に低減できます。
AWS AgentCore は AWS エコシステム内での完結性に強みを持ちます。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セキュリティとコンプライアンス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データ暗号化（保存時）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AES-256（AWS KMS）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AES-256（Azure Key Vault）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データ暗号化（転送時）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TLS 1.2+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TLS 1.2+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顧客管理キー（CMK）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○（AWS KMS）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○（Azure Key Vault / CMK）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プライベートネットワーク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PrivateLink / VPC エンドポイント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Private Link / VNet 統合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コンプライアンス認証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ISO 27001、SOC 2、PCI DSS、HIPAA 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ISO 27001、SOC 2、PCI DSS、HIPAA、FedRAMP、GDPR、ISMS（日本）等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08960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14553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責任ある 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Bedrock Guardrails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5411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Content Safety、Responsible AI ダッシュボード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456432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4930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データ主権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リージョン選択により対応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データ境界（EU、日本等）、Purview によるデータガバナンス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803904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384048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ネットワーク分離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803904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13632" y="38404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VPC、セキュリティグループ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3803904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54112" y="38404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VNet、ネットワークセキュリティグループ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開発者エクスペリエンス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SDK・ライブラリ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SDK（Python、Java、.NET 等）、Boto3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SDK、Semantic Kernel（.NET・Python・Java）、AutoGen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エージェントフレームワーク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Bedrock AgentCore SDK、LangChain 対応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Semantic Kernel、AutoGen、LangChain 対応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ローカル開発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CLI、SAM、localstack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CLI、VS Code 拡張、Azure Developer CLI（azd）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プロンプト管理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PromptFlow（限定的）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Foundry ポータル（プロンプトフロー統合）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評価・テスト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Bedrock モデル評価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AI Foundry 評価フレームワーク（カスタム評価メトリクス対応）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08960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14553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IDE 統合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Toolkit for VS 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5411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GitHub Copilot、VS Code Azure 拡張（深い統合）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456432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4930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テンプレート・サンプル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ソリューションライブラリ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サンプルギャラリー、Microsoft Learn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運用・MLOps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デプロイ管理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CDK、CloudFormation、Terraform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DevOps、GitHub Actions、Terraform、Bicep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CI/CD パイプライン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CodePipeline / CodeBuild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DevOps Pipelines、GitHub Actions（Microsoft 所有）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モデルバージョン管理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SageMaker（別サービス）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Foundry モデルレジストリ（統合）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A/B テスト・実験管理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Experiment Manager（SageMaker）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Foundry 実験管理（統合）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スケーリング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自動スケーリング（Bedrock マネージド）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自動スケーリング（Azure マネージド）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08960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14553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SLA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99.99%（Bedrock）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108960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54112" y="3145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99.9%～99.99%（サービスにより異なる）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456432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49300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コスト可視化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Cost Explorer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456432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2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Cost Management + Billing、AI Foundry コスト分析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メモリと状態管理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会話履歴管理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Bedrock AgentCore メモリ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Foundry スレッド管理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長期メモリ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○（AgentCore メモリストア）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○（Azure Cosmos DB 等との統合）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セッション管理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外部ナレッジベース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Amazon Bedrock Knowledge Bases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AI Search（エンタープライズグレードの RAG）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価格モデル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課金モデル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トークン従量課金＋ API 呼び出し数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トークン従量課金＋サービス利用時間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既存ライセンス活用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Enterprise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365 / Azure EA（Enterprise Agreement）との統合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無料枠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無料利用枠（一部）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無料クレジット（一部）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予算管理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Budgets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Azure Budgets、Azure Cost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※ 詳細な価格は各社公式サイトをご確認ください。価格は地域・契約形態・利用量により異なります。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サポートとエコシステム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345643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05840"/>
            <a:ext cx="331012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60120"/>
            <a:ext cx="3822192" cy="41148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960120"/>
            <a:ext cx="3822192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005840"/>
            <a:ext cx="36758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408176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エンタープライズサポート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Enterprise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371600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4081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Unified サポート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19072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755648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パートナーエコシステム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パートナーネットワーク（APN）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719072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Partner Network（MPN）、ISV パートナー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10312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トレーニング・認定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認定資格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66543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認定資格（AI-102、DP-100 等）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4564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45059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ドキュメント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ドキュメント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414016"/>
            <a:ext cx="38221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4112" y="2450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Learn（日本語含む多言語対応）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345643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E3A5F"/>
                </a:solidFill>
              </a:rPr>
              <a:t>コミュニティ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AWS re:Post、GitHub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2761488"/>
            <a:ext cx="3822192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</a:rPr>
              <a:t>Microsoft Tech Community、GitHub、Stack Overflow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583680"/>
            <a:ext cx="2286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37192" y="6583680"/>
            <a:ext cx="2286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88888"/>
                </a:solidFill>
              </a:rPr>
              <a:t>AWS AgentCore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37192" y="665683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Microsoft Azure AI Foundry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総合評価サマリー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4087368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評価軸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960120"/>
            <a:ext cx="3447288" cy="457200"/>
          </a:xfrm>
          <a:prstGeom prst="rect">
            <a:avLst/>
          </a:prstGeom>
          <a:solidFill>
            <a:srgbClr val="D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051560"/>
            <a:ext cx="3291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AWS 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960120"/>
            <a:ext cx="3447288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051560"/>
            <a:ext cx="32918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Microsoft Azure AI Foundry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17320"/>
            <a:ext cx="408736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08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AI モデルの多様性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4173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15087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★★★★☆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14173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15087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874519"/>
            <a:ext cx="4087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65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エンタープライズ統合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74519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19659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★★★☆☆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9" y="1874519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19659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331720"/>
            <a:ext cx="408736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423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セキュリティ・コンプライアンス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3317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24231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★★★★☆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59" y="23317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24231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788920"/>
            <a:ext cx="4087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80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開発者エクスペリエンス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788920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28803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★★★★☆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59" y="2788920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9" y="28803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246120"/>
            <a:ext cx="408736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337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既存 Microsoft 環境との親和性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461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79" y="33375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★★☆☆☆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59" y="32461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9" y="333756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703320"/>
            <a:ext cx="4087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7947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既存 AWS 環境との親和性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3703320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79" y="3794759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★★★★★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59" y="3703320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599" y="3794759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★★★☆☆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408736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519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運用・MLOps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1605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79" y="4251959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★★★★☆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59" y="4160520"/>
            <a:ext cx="3447288" cy="429768"/>
          </a:xfrm>
          <a:prstGeom prst="rect">
            <a:avLst/>
          </a:prstGeom>
          <a:solidFill>
            <a:srgbClr val="F0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599" y="4251959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617720"/>
            <a:ext cx="408736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7091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コスト透明性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4617720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79" y="4709159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9900"/>
                </a:solidFill>
              </a:rPr>
              <a:t>★★★★☆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59" y="4617720"/>
            <a:ext cx="3447288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599" y="4709159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78D4"/>
                </a:solidFill>
              </a:rPr>
              <a:t>★★★★☆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★の評価は相対的な傾向を示すものであり、絶対的な優劣を示すものではありません。組織の既存環境・要件に応じて最適解は異なります。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